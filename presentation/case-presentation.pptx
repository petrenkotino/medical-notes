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I’ll start with the design, then spend most of the time on the load test and the change I made from its results. The service itself is deliberately small. For the load tests the compiled API ran directly on the host, which made its PID, CPU, and resident memory straightforward to sample. PostgreSQL remained in Docker, so the API-to-database path still included Docker networking and, on macOS, Docker Desktop’s virtualization boundary.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chose an append-only model because preserving history seemed like the more realistic assumption for medical notes. It does create a concurrency question. The current behavior keeps the stored data consistent, but it does not prove which version the client originally edited. In a real product I would probably require an expected version before deciding whether a retry is appropriate.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did this before the performance work. The concurrency test sends five updates to one note and checks that successful writes have unique versions while the others return conflicts. I won’t walk through the test code unless there are questions.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50-note working set is both useful and artificial: it makes reads cache-friendly and makes update conflicts easier to trigger. Constant VUs run in a closed loop, so every VU sends another request as soon as the previous one finishes. That explains how 50 VUs can produce about 10,000 requests per second.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Throughput peaked at the lowest tested level and then fell while latency rose. Nothing failed, but the service was clearly saturated. I can only say degradation was visible at 25 VUs; I did not test enough points to say that 25 is the exact boundary.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would be careful with the wording here. The PostgreSQL sampling did not prove that requests were waiting inside Postgres.js. The A/B result is the stronger evidence: changing the pool materially changed both throughput and latency at the same VU level. It still does not prove the pool was the only bottleneck.</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PostgreSQL samples saw a maximum of 32 active connections with pool 40 and 34 with pool 50. Those are sampled maxima, not exact peaks. Pool 40 is the smallest setting close to the throughput ceiling for this test. It is not a production recommendation; the total connection budget has to include every API replica and every other database client.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complete pool-40 series rather than selected headline numbers. CPU and resident memory came from two-second ps samples of the API process during the measured 60 seconds; they were not collected by k6. At 25 VUs the service reached the highest throughput before degradation. At 50 VUs throughput stayed almost flat, but GET p95 roughly doubled, so that is where I consider degradation visible.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At 25 VUs the larger pool improved both throughput and latency. The exact percentages should not be treated as universal because these are single local runs. The formal series also showed a worse result for pool 40 at 10 VUs. I repeated that comparison later and the ordering reversed: 7,549 req/s for pool 40 versus 6,514 for pool 10, with better tail latency. The low-load difference was not repeatable, so I treat it as run-to-run variation rather than an effect of the pool.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made these choices deliberately, but they affect how far I can take the results. Pool 40 was the throughput-oriented choice for the experiment, not an objectively best production setting. Pool 30 is a reasonable choice if latency, conflict rate, or database connection budget matters more. The test also deliberately generates requests as fast as possible against a tiny working set. That is useful for finding a local saturation point, but it does not tell me how many real clinicians the service supports. My claim is therefore relative: changing the pool improved this workload and moved the first observed degradation point. It is not a production capacity forecast.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was one unpaired run against different database state. Memory increased by 31%, and conflicts rose to about 188 per second. I included it because it gives a useful next direction, not because it is formal evidence for a production topology.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direct answer to “what can it handle before degrading?” It is not an exact boundary and it does not map to a number of real users. Expected 409s are included in completed-request throughput, so this is also not the same thing as successful business-update throughput.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not in a strict order. The first two follow from what I observed. The third is a product and correctness question revealed by the conflict rate. The last two are what I would need before using the numbers for production planning.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Stop here. Use the appendix only when a question needs the raw numbers or the scope decisions.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Medical Notes API</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Design, load testing, and one improvement</a:t>
            </a:r>
            <a:br/>
            <a:br/>
            <a:r>
              <a:rPr/>
              <a:t>Tino Petrenko</a:t>
            </a:r>
          </a:p>
        </p:txBody>
      </p:sp>
      <p:sp>
        <p:nvSpPr>
          <p:cNvPr id="4" name="Date Placeholder 3"/>
          <p:cNvSpPr>
            <a:spLocks noGrp="1"/>
          </p:cNvSpPr>
          <p:nvPr>
            <p:ph idx="10" sz="half" type="dt"/>
          </p:nvPr>
        </p:nvSpPr>
        <p:spPr/>
        <p:txBody>
          <a:bodyPr/>
          <a:lstStyle/>
          <a:p>
            <a:pPr lvl="0" indent="0" marL="0">
              <a:buNone/>
            </a:pPr>
            <a:r>
              <a:rPr/>
              <a:t>September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 built</a:t>
            </a:r>
          </a:p>
        </p:txBody>
      </p:sp>
      <p:sp>
        <p:nvSpPr>
          <p:cNvPr id="3" name="Content Placeholder 2"/>
          <p:cNvSpPr>
            <a:spLocks noGrp="1"/>
          </p:cNvSpPr>
          <p:nvPr>
            <p:ph idx="1"/>
          </p:nvPr>
        </p:nvSpPr>
        <p:spPr/>
        <p:txBody>
          <a:bodyPr/>
          <a:lstStyle/>
          <a:p>
            <a:pPr lvl="0"/>
            <a:r>
              <a:rPr/>
              <a:t>Node.js 24, TypeScript, Fastify, PostgreSQL 17, and Postgres.js</a:t>
            </a:r>
          </a:p>
          <a:p>
            <a:pPr lvl="0"/>
            <a:r>
              <a:rPr>
                <a:latin typeface="Courier"/>
              </a:rPr>
              <a:t>POST /medical-note</a:t>
            </a:r>
            <a:r>
              <a:rPr/>
              <a:t> creates a note</a:t>
            </a:r>
          </a:p>
          <a:p>
            <a:pPr lvl="0"/>
            <a:r>
              <a:rPr>
                <a:latin typeface="Courier"/>
              </a:rPr>
              <a:t>GET /medical-note/:id</a:t>
            </a:r>
            <a:r>
              <a:rPr/>
              <a:t> returns its latest version</a:t>
            </a:r>
          </a:p>
          <a:p>
            <a:pPr lvl="0"/>
            <a:r>
              <a:rPr>
                <a:latin typeface="Courier"/>
              </a:rPr>
              <a:t>PUT /medical-note/:id</a:t>
            </a:r>
            <a:r>
              <a:rPr/>
              <a:t> creates a new version</a:t>
            </a:r>
          </a:p>
          <a:p>
            <a:pPr lvl="0"/>
            <a:r>
              <a:rPr/>
              <a:t>Docker Compose starts the API and database locally</a:t>
            </a:r>
          </a:p>
          <a:p>
            <a:pPr lvl="0"/>
            <a:r>
              <a:rPr/>
              <a:t>PostgreSQL data persists across restarts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 versions and concurrent updates</a:t>
            </a:r>
          </a:p>
        </p:txBody>
      </p:sp>
      <p:sp>
        <p:nvSpPr>
          <p:cNvPr id="3" name="Content Placeholder 2"/>
          <p:cNvSpPr>
            <a:spLocks noGrp="1"/>
          </p:cNvSpPr>
          <p:nvPr>
            <p:ph idx="1"/>
          </p:nvPr>
        </p:nvSpPr>
        <p:spPr/>
        <p:txBody>
          <a:bodyPr/>
          <a:lstStyle/>
          <a:p>
            <a:pPr lvl="0"/>
            <a:r>
              <a:rPr/>
              <a:t>Every version is a separate database row</a:t>
            </a:r>
          </a:p>
          <a:p>
            <a:pPr lvl="0"/>
            <a:r>
              <a:rPr>
                <a:latin typeface="Courier"/>
              </a:rPr>
              <a:t>(id, version)</a:t>
            </a:r>
            <a:r>
              <a:rPr/>
              <a:t> is the primary key</a:t>
            </a:r>
          </a:p>
          <a:p>
            <a:pPr lvl="0"/>
            <a:r>
              <a:rPr>
                <a:latin typeface="Courier"/>
              </a:rPr>
              <a:t>PUT</a:t>
            </a:r>
            <a:r>
              <a:rPr/>
              <a:t> reads the current version and inserts the next one in a single SQL statement</a:t>
            </a:r>
          </a:p>
          <a:p>
            <a:pPr lvl="0"/>
            <a:r>
              <a:rPr/>
              <a:t>Two concurrent updates may calculate the same next version</a:t>
            </a:r>
          </a:p>
          <a:p>
            <a:pPr lvl="0"/>
            <a:r>
              <a:rPr/>
              <a:t>PostgreSQL accepts one; the API returns </a:t>
            </a:r>
            <a:r>
              <a:rPr>
                <a:latin typeface="Courier"/>
              </a:rPr>
              <a:t>409 Conflict</a:t>
            </a:r>
            <a:r>
              <a:rPr/>
              <a:t> for the other</a:t>
            </a:r>
          </a:p>
          <a:p>
            <a:pPr lvl="0" indent="0" marL="0">
              <a:buNone/>
            </a:pPr>
            <a:r>
              <a:rPr/>
              <a:t>This preserves history and avoids silently overwriting an update.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Correctness tests</a:t>
            </a:r>
          </a:p>
        </p:txBody>
      </p:sp>
      <p:sp>
        <p:nvSpPr>
          <p:cNvPr id="3" name="Content Placeholder 2"/>
          <p:cNvSpPr>
            <a:spLocks noGrp="1"/>
          </p:cNvSpPr>
          <p:nvPr>
            <p:ph idx="1"/>
          </p:nvPr>
        </p:nvSpPr>
        <p:spPr/>
        <p:txBody>
          <a:bodyPr/>
          <a:lstStyle/>
          <a:p>
            <a:pPr lvl="0" indent="0" marL="0">
              <a:buNone/>
            </a:pPr>
            <a:r>
              <a:rPr/>
              <a:t>The acceptance tests cover:</a:t>
            </a:r>
          </a:p>
          <a:p>
            <a:pPr lvl="0"/>
            <a:r>
              <a:rPr/>
              <a:t>the full </a:t>
            </a:r>
            <a:r>
              <a:rPr>
                <a:latin typeface="Courier"/>
              </a:rPr>
              <a:t>POST → GET → PUT → GET</a:t>
            </a:r>
            <a:r>
              <a:rPr/>
              <a:t> flow;</a:t>
            </a:r>
          </a:p>
          <a:p>
            <a:pPr lvl="0"/>
            <a:r>
              <a:rPr/>
              <a:t>version increments and response fields;</a:t>
            </a:r>
          </a:p>
          <a:p>
            <a:pPr lvl="0"/>
            <a:r>
              <a:rPr/>
              <a:t>invalid UUIDs and request bodies;</a:t>
            </a:r>
          </a:p>
          <a:p>
            <a:pPr lvl="0"/>
            <a:r>
              <a:rPr/>
              <a:t>missing notes;</a:t>
            </a:r>
          </a:p>
          <a:p>
            <a:pPr lvl="0"/>
            <a:r>
              <a:rPr/>
              <a:t>concurrent updates;</a:t>
            </a:r>
          </a:p>
          <a:p>
            <a:pPr lvl="0"/>
            <a:r>
              <a:rPr/>
              <a:t>expected </a:t>
            </a:r>
            <a:r>
              <a:rPr>
                <a:latin typeface="Courier"/>
              </a:rPr>
              <a:t>409</a:t>
            </a:r>
            <a:r>
              <a:rPr/>
              <a:t> responses without unexpected </a:t>
            </a:r>
            <a:r>
              <a:rPr>
                <a:latin typeface="Courier"/>
              </a:rPr>
              <a:t>500</a:t>
            </a:r>
            <a:r>
              <a:rPr/>
              <a:t>s.</a:t>
            </a:r>
          </a:p>
          <a:p>
            <a:pPr lvl="0" indent="0" marL="0">
              <a:buNone/>
            </a:pPr>
            <a:r>
              <a:rPr/>
              <a:t>I also checked that a note survives a service restart.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Load-test setup</a:t>
            </a:r>
          </a:p>
        </p:txBody>
      </p:sp>
      <p:sp>
        <p:nvSpPr>
          <p:cNvPr id="3" name="Content Placeholder 2"/>
          <p:cNvSpPr>
            <a:spLocks noGrp="1"/>
          </p:cNvSpPr>
          <p:nvPr>
            <p:ph idx="1"/>
          </p:nvPr>
        </p:nvSpPr>
        <p:spPr/>
        <p:txBody>
          <a:bodyPr/>
          <a:lstStyle/>
          <a:p>
            <a:pPr lvl="0"/>
            <a:r>
              <a:rPr/>
              <a:t>70% GET, 20% POST, 10% PUT</a:t>
            </a:r>
          </a:p>
          <a:p>
            <a:pPr lvl="0"/>
            <a:r>
              <a:rPr/>
              <a:t>50 notes seeded before each invocation</a:t>
            </a:r>
          </a:p>
          <a:p>
            <a:pPr lvl="0"/>
            <a:r>
              <a:rPr/>
              <a:t>15-second warm-up, then a 60-second measured run</a:t>
            </a:r>
          </a:p>
          <a:p>
            <a:pPr lvl="0"/>
            <a:r>
              <a:rPr/>
              <a:t>10, 25, 50, 100, and 200 constant VUs</a:t>
            </a:r>
          </a:p>
          <a:p>
            <a:pPr lvl="0"/>
            <a:r>
              <a:rPr/>
              <a:t>No think time</a:t>
            </a:r>
          </a:p>
          <a:p>
            <a:pPr lvl="0" indent="0" marL="0">
              <a:buNone/>
            </a:pPr>
            <a:r>
              <a:rPr/>
              <a:t>I measured throughput, endpoint latency, unexpected failures, expected conflicts, CPU, and memory.</a:t>
            </a:r>
          </a:p>
          <a:p>
            <a:pPr lvl="0" indent="0" marL="0">
              <a:buNone/>
            </a:pPr>
            <a:r>
              <a:rPr/>
              <a:t>This is a local saturation test. It is not a simulation of 10–200 people using the product.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Baseline results</a:t>
            </a:r>
          </a:p>
        </p:txBody>
      </p:sp>
      <p:sp>
        <p:nvSpPr>
          <p:cNvPr id="4" name="Text Placeholder 3"/>
          <p:cNvSpPr>
            <a:spLocks noGrp="1"/>
          </p:cNvSpPr>
          <p:nvPr>
            <p:ph idx="2" sz="half" type="body"/>
          </p:nvPr>
        </p:nvSpPr>
        <p:spPr/>
        <p:txBody>
          <a:bodyPr/>
          <a:lstStyle/>
          <a:p>
            <a:pPr lvl="0" indent="0" marL="0">
              <a:buNone/>
            </a:pPr>
            <a:r>
              <a:rPr/>
              <a:t>One Node process, default Postgres.js pool size of 10:</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r">
                        <a:buNone/>
                      </a:pPr>
                      <a:r>
                        <a:rPr/>
                        <a:t>VUs</a:t>
                      </a:r>
                    </a:p>
                  </a:txBody>
                  <a:tcPr/>
                </a:tc>
                <a:tc>
                  <a:txBody>
                    <a:bodyPr/>
                    <a:lstStyle/>
                    <a:p>
                      <a:pPr lvl="0" indent="0" marL="0" algn="r">
                        <a:buNone/>
                      </a:pPr>
                      <a:r>
                        <a:rPr/>
                        <a:t>req/s</a:t>
                      </a:r>
                    </a:p>
                  </a:txBody>
                  <a:tcPr/>
                </a:tc>
                <a:tc>
                  <a:txBody>
                    <a:bodyPr/>
                    <a:lstStyle/>
                    <a:p>
                      <a:pPr lvl="0" indent="0" marL="0" algn="r">
                        <a:buNone/>
                      </a:pPr>
                      <a:r>
                        <a:rPr/>
                        <a:t>GET p95</a:t>
                      </a:r>
                    </a:p>
                  </a:txBody>
                  <a:tcPr/>
                </a:tc>
                <a:tc>
                  <a:txBody>
                    <a:bodyPr/>
                    <a:lstStyle/>
                    <a:p>
                      <a:pPr lvl="0" indent="0" marL="0" algn="r">
                        <a:buNone/>
                      </a:pPr>
                      <a:r>
                        <a:rPr/>
                        <a:t>Infra errors</a:t>
                      </a:r>
                    </a:p>
                  </a:txBody>
                  <a:tcPr/>
                </a:tc>
              </a:tr>
              <a:tr h="0">
                <a:tc>
                  <a:txBody>
                    <a:bodyPr/>
                    <a:lstStyle/>
                    <a:p>
                      <a:pPr lvl="0" indent="0" marL="0" algn="r">
                        <a:buNone/>
                      </a:pPr>
                      <a:r>
                        <a:rPr/>
                        <a:t>10</a:t>
                      </a:r>
                    </a:p>
                  </a:txBody>
                </a:tc>
                <a:tc>
                  <a:txBody>
                    <a:bodyPr/>
                    <a:lstStyle/>
                    <a:p>
                      <a:pPr lvl="0" indent="0" marL="0" algn="r">
                        <a:buNone/>
                      </a:pPr>
                      <a:r>
                        <a:rPr/>
                        <a:t>8,708</a:t>
                      </a:r>
                    </a:p>
                  </a:txBody>
                </a:tc>
                <a:tc>
                  <a:txBody>
                    <a:bodyPr/>
                    <a:lstStyle/>
                    <a:p>
                      <a:pPr lvl="0" indent="0" marL="0" algn="r">
                        <a:buNone/>
                      </a:pPr>
                      <a:r>
                        <a:rPr/>
                        <a:t>1.33 ms</a:t>
                      </a:r>
                    </a:p>
                  </a:txBody>
                </a:tc>
                <a:tc>
                  <a:txBody>
                    <a:bodyPr/>
                    <a:lstStyle/>
                    <a:p>
                      <a:pPr lvl="0" indent="0" marL="0" algn="r">
                        <a:buNone/>
                      </a:pPr>
                      <a:r>
                        <a:rPr/>
                        <a:t>0%</a:t>
                      </a:r>
                    </a:p>
                  </a:txBody>
                </a:tc>
              </a:tr>
              <a:tr h="0">
                <a:tc>
                  <a:txBody>
                    <a:bodyPr/>
                    <a:lstStyle/>
                    <a:p>
                      <a:pPr lvl="0" indent="0" marL="0" algn="r">
                        <a:buNone/>
                      </a:pPr>
                      <a:r>
                        <a:rPr/>
                        <a:t>25</a:t>
                      </a:r>
                    </a:p>
                  </a:txBody>
                </a:tc>
                <a:tc>
                  <a:txBody>
                    <a:bodyPr/>
                    <a:lstStyle/>
                    <a:p>
                      <a:pPr lvl="0" indent="0" marL="0" algn="r">
                        <a:buNone/>
                      </a:pPr>
                      <a:r>
                        <a:rPr/>
                        <a:t>7,298</a:t>
                      </a:r>
                    </a:p>
                  </a:txBody>
                </a:tc>
                <a:tc>
                  <a:txBody>
                    <a:bodyPr/>
                    <a:lstStyle/>
                    <a:p>
                      <a:pPr lvl="0" indent="0" marL="0" algn="r">
                        <a:buNone/>
                      </a:pPr>
                      <a:r>
                        <a:rPr/>
                        <a:t>4.82 ms</a:t>
                      </a:r>
                    </a:p>
                  </a:txBody>
                </a:tc>
                <a:tc>
                  <a:txBody>
                    <a:bodyPr/>
                    <a:lstStyle/>
                    <a:p>
                      <a:pPr lvl="0" indent="0" marL="0" algn="r">
                        <a:buNone/>
                      </a:pPr>
                      <a:r>
                        <a:rPr/>
                        <a:t>0%</a:t>
                      </a:r>
                    </a:p>
                  </a:txBody>
                </a:tc>
              </a:tr>
              <a:tr h="0">
                <a:tc>
                  <a:txBody>
                    <a:bodyPr/>
                    <a:lstStyle/>
                    <a:p>
                      <a:pPr lvl="0" indent="0" marL="0" algn="r">
                        <a:buNone/>
                      </a:pPr>
                      <a:r>
                        <a:rPr/>
                        <a:t>50</a:t>
                      </a:r>
                    </a:p>
                  </a:txBody>
                </a:tc>
                <a:tc>
                  <a:txBody>
                    <a:bodyPr/>
                    <a:lstStyle/>
                    <a:p>
                      <a:pPr lvl="0" indent="0" marL="0" algn="r">
                        <a:buNone/>
                      </a:pPr>
                      <a:r>
                        <a:rPr/>
                        <a:t>4,396</a:t>
                      </a:r>
                    </a:p>
                  </a:txBody>
                </a:tc>
                <a:tc>
                  <a:txBody>
                    <a:bodyPr/>
                    <a:lstStyle/>
                    <a:p>
                      <a:pPr lvl="0" indent="0" marL="0" algn="r">
                        <a:buNone/>
                      </a:pPr>
                      <a:r>
                        <a:rPr/>
                        <a:t>15.31 ms</a:t>
                      </a:r>
                    </a:p>
                  </a:txBody>
                </a:tc>
                <a:tc>
                  <a:txBody>
                    <a:bodyPr/>
                    <a:lstStyle/>
                    <a:p>
                      <a:pPr lvl="0" indent="0" marL="0" algn="r">
                        <a:buNone/>
                      </a:pPr>
                      <a:r>
                        <a:rPr/>
                        <a:t>0%</a:t>
                      </a:r>
                    </a:p>
                  </a:txBody>
                </a:tc>
              </a:tr>
              <a:tr h="0">
                <a:tc>
                  <a:txBody>
                    <a:bodyPr/>
                    <a:lstStyle/>
                    <a:p>
                      <a:pPr lvl="0" indent="0" marL="0" algn="r">
                        <a:buNone/>
                      </a:pPr>
                      <a:r>
                        <a:rPr/>
                        <a:t>100</a:t>
                      </a:r>
                    </a:p>
                  </a:txBody>
                </a:tc>
                <a:tc>
                  <a:txBody>
                    <a:bodyPr/>
                    <a:lstStyle/>
                    <a:p>
                      <a:pPr lvl="0" indent="0" marL="0" algn="r">
                        <a:buNone/>
                      </a:pPr>
                      <a:r>
                        <a:rPr/>
                        <a:t>3,373</a:t>
                      </a:r>
                    </a:p>
                  </a:txBody>
                </a:tc>
                <a:tc>
                  <a:txBody>
                    <a:bodyPr/>
                    <a:lstStyle/>
                    <a:p>
                      <a:pPr lvl="0" indent="0" marL="0" algn="r">
                        <a:buNone/>
                      </a:pPr>
                      <a:r>
                        <a:rPr/>
                        <a:t>40.20 ms</a:t>
                      </a:r>
                    </a:p>
                  </a:txBody>
                </a:tc>
                <a:tc>
                  <a:txBody>
                    <a:bodyPr/>
                    <a:lstStyle/>
                    <a:p>
                      <a:pPr lvl="0" indent="0" marL="0" algn="r">
                        <a:buNone/>
                      </a:pPr>
                      <a:r>
                        <a:rPr/>
                        <a:t>0%</a:t>
                      </a:r>
                    </a:p>
                  </a:txBody>
                </a:tc>
              </a:tr>
              <a:tr h="0">
                <a:tc>
                  <a:txBody>
                    <a:bodyPr/>
                    <a:lstStyle/>
                    <a:p>
                      <a:pPr lvl="0" indent="0" marL="0" algn="r">
                        <a:buNone/>
                      </a:pPr>
                      <a:r>
                        <a:rPr/>
                        <a:t>200</a:t>
                      </a:r>
                    </a:p>
                  </a:txBody>
                </a:tc>
                <a:tc>
                  <a:txBody>
                    <a:bodyPr/>
                    <a:lstStyle/>
                    <a:p>
                      <a:pPr lvl="0" indent="0" marL="0" algn="r">
                        <a:buNone/>
                      </a:pPr>
                      <a:r>
                        <a:rPr/>
                        <a:t>2,860</a:t>
                      </a:r>
                    </a:p>
                  </a:txBody>
                </a:tc>
                <a:tc>
                  <a:txBody>
                    <a:bodyPr/>
                    <a:lstStyle/>
                    <a:p>
                      <a:pPr lvl="0" indent="0" marL="0" algn="r">
                        <a:buNone/>
                      </a:pPr>
                      <a:r>
                        <a:rPr/>
                        <a:t>90.36 ms</a:t>
                      </a:r>
                    </a:p>
                  </a:txBody>
                </a:tc>
                <a:tc>
                  <a:txBody>
                    <a:bodyPr/>
                    <a:lstStyle/>
                    <a:p>
                      <a:pPr lvl="0" indent="0" marL="0" algn="r">
                        <a:buNone/>
                      </a:pPr>
                      <a:r>
                        <a:rPr/>
                        <a:t>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first observed degradation was at 25 VUs.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Testing the pool-size hypothesis</a:t>
            </a:r>
          </a:p>
        </p:txBody>
      </p:sp>
      <p:sp>
        <p:nvSpPr>
          <p:cNvPr id="4" name="Text Placeholder 3"/>
          <p:cNvSpPr>
            <a:spLocks noGrp="1"/>
          </p:cNvSpPr>
          <p:nvPr>
            <p:ph idx="2" sz="half" type="body"/>
          </p:nvPr>
        </p:nvSpPr>
        <p:spPr/>
        <p:txBody>
          <a:bodyPr/>
          <a:lstStyle/>
          <a:p>
            <a:pPr lvl="0" indent="0" marL="0">
              <a:buNone/>
            </a:pPr>
            <a:r>
              <a:rPr/>
              <a:t>I sampled </a:t>
            </a:r>
            <a:r>
              <a:rPr>
                <a:latin typeface="Courier"/>
              </a:rPr>
              <a:t>pg_stat_activity</a:t>
            </a:r>
            <a:r>
              <a:rPr/>
              <a:t>, but the result was inconclusive: one-second snapshots can miss connection usage that lasts only a few milliseconds.</a:t>
            </a:r>
          </a:p>
          <a:p>
            <a:pPr lvl="0" indent="0" marL="0">
              <a:buNone/>
            </a:pPr>
            <a:r>
              <a:rPr/>
              <a:t>I then repeated the 25-VU test with pool sizes 10 and 20:</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endParaRPr/>
                    </a:p>
                  </a:txBody>
                  <a:tcPr/>
                </a:tc>
                <a:tc>
                  <a:txBody>
                    <a:bodyPr/>
                    <a:lstStyle/>
                    <a:p>
                      <a:pPr lvl="0" indent="0" marL="0" algn="r">
                        <a:buNone/>
                      </a:pPr>
                      <a:r>
                        <a:rPr/>
                        <a:t>Pool 10</a:t>
                      </a:r>
                    </a:p>
                  </a:txBody>
                  <a:tcPr/>
                </a:tc>
                <a:tc>
                  <a:txBody>
                    <a:bodyPr/>
                    <a:lstStyle/>
                    <a:p>
                      <a:pPr lvl="0" indent="0" marL="0" algn="r">
                        <a:buNone/>
                      </a:pPr>
                      <a:r>
                        <a:rPr/>
                        <a:t>Pool 20</a:t>
                      </a:r>
                    </a:p>
                  </a:txBody>
                  <a:tcPr/>
                </a:tc>
                <a:tc>
                  <a:txBody>
                    <a:bodyPr/>
                    <a:lstStyle/>
                    <a:p>
                      <a:pPr lvl="0" indent="0" marL="0" algn="r">
                        <a:buNone/>
                      </a:pPr>
                      <a:r>
                        <a:rPr/>
                        <a:t>Change</a:t>
                      </a:r>
                    </a:p>
                  </a:txBody>
                  <a:tcPr/>
                </a:tc>
              </a:tr>
              <a:tr h="0">
                <a:tc>
                  <a:txBody>
                    <a:bodyPr/>
                    <a:lstStyle/>
                    <a:p>
                      <a:pPr lvl="0" indent="0" marL="0">
                        <a:buNone/>
                      </a:pPr>
                      <a:r>
                        <a:rPr/>
                        <a:t>Throughput</a:t>
                      </a:r>
                    </a:p>
                  </a:txBody>
                </a:tc>
                <a:tc>
                  <a:txBody>
                    <a:bodyPr/>
                    <a:lstStyle/>
                    <a:p>
                      <a:pPr lvl="0" indent="0" marL="0" algn="r">
                        <a:buNone/>
                      </a:pPr>
                      <a:r>
                        <a:rPr/>
                        <a:t>6,619 req/s</a:t>
                      </a:r>
                    </a:p>
                  </a:txBody>
                </a:tc>
                <a:tc>
                  <a:txBody>
                    <a:bodyPr/>
                    <a:lstStyle/>
                    <a:p>
                      <a:pPr lvl="0" indent="0" marL="0" algn="r">
                        <a:buNone/>
                      </a:pPr>
                      <a:r>
                        <a:rPr/>
                        <a:t>10,086 req/s</a:t>
                      </a:r>
                    </a:p>
                  </a:txBody>
                </a:tc>
                <a:tc>
                  <a:txBody>
                    <a:bodyPr/>
                    <a:lstStyle/>
                    <a:p>
                      <a:pPr lvl="0" indent="0" marL="0" algn="r">
                        <a:buNone/>
                      </a:pPr>
                      <a:r>
                        <a:rPr/>
                        <a:t>+52.4%</a:t>
                      </a:r>
                    </a:p>
                  </a:txBody>
                </a:tc>
              </a:tr>
              <a:tr h="0">
                <a:tc>
                  <a:txBody>
                    <a:bodyPr/>
                    <a:lstStyle/>
                    <a:p>
                      <a:pPr lvl="0" indent="0" marL="0">
                        <a:buNone/>
                      </a:pPr>
                      <a:r>
                        <a:rPr/>
                        <a:t>Overall p95</a:t>
                      </a:r>
                    </a:p>
                  </a:txBody>
                </a:tc>
                <a:tc>
                  <a:txBody>
                    <a:bodyPr/>
                    <a:lstStyle/>
                    <a:p>
                      <a:pPr lvl="0" indent="0" marL="0" algn="r">
                        <a:buNone/>
                      </a:pPr>
                      <a:r>
                        <a:rPr/>
                        <a:t>5.68 ms</a:t>
                      </a:r>
                    </a:p>
                  </a:txBody>
                </a:tc>
                <a:tc>
                  <a:txBody>
                    <a:bodyPr/>
                    <a:lstStyle/>
                    <a:p>
                      <a:pPr lvl="0" indent="0" marL="0" algn="r">
                        <a:buNone/>
                      </a:pPr>
                      <a:r>
                        <a:rPr/>
                        <a:t>4.45 ms</a:t>
                      </a:r>
                    </a:p>
                  </a:txBody>
                </a:tc>
                <a:tc>
                  <a:txBody>
                    <a:bodyPr/>
                    <a:lstStyle/>
                    <a:p>
                      <a:pPr lvl="0" indent="0" marL="0" algn="r">
                        <a:buNone/>
                      </a:pPr>
                      <a:r>
                        <a:rPr/>
                        <a:t>−21.7%</a:t>
                      </a:r>
                    </a:p>
                  </a:txBody>
                </a:tc>
              </a:tr>
              <a:tr h="0">
                <a:tc>
                  <a:txBody>
                    <a:bodyPr/>
                    <a:lstStyle/>
                    <a:p>
                      <a:pPr lvl="0" indent="0" marL="0">
                        <a:buNone/>
                      </a:pPr>
                      <a:r>
                        <a:rPr/>
                        <a:t>Max observed active DB connections</a:t>
                      </a:r>
                    </a:p>
                  </a:txBody>
                </a:tc>
                <a:tc>
                  <a:txBody>
                    <a:bodyPr/>
                    <a:lstStyle/>
                    <a:p>
                      <a:pPr lvl="0" indent="0" marL="0" algn="r">
                        <a:buNone/>
                      </a:pPr>
                      <a:r>
                        <a:rPr/>
                        <a:t>8</a:t>
                      </a:r>
                    </a:p>
                  </a:txBody>
                </a:tc>
                <a:tc>
                  <a:txBody>
                    <a:bodyPr/>
                    <a:lstStyle/>
                    <a:p>
                      <a:pPr lvl="0" indent="0" marL="0" algn="r">
                        <a:buNone/>
                      </a:pPr>
                      <a:r>
                        <a:rPr/>
                        <a:t>19</a:t>
                      </a:r>
                    </a:p>
                  </a:txBody>
                </a:tc>
                <a:tc>
                  <a:txBody>
                    <a:bodyPr/>
                    <a:lstStyle/>
                    <a:p>
                      <a:pPr lvl="0" indent="0" marL="0" algn="r">
                        <a:buNone/>
                      </a:pPr>
                      <a:r>
                        <a:rPr/>
                        <a:t>—</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pool size was a meaningful constraint.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Choosing a pool size</a:t>
            </a:r>
          </a:p>
        </p:txBody>
      </p:sp>
      <p:sp>
        <p:nvSpPr>
          <p:cNvPr id="4" name="Text Placeholder 3"/>
          <p:cNvSpPr>
            <a:spLocks noGrp="1"/>
          </p:cNvSpPr>
          <p:nvPr>
            <p:ph idx="2" sz="half" type="body"/>
          </p:nvPr>
        </p:nvSpPr>
        <p:spPr/>
        <p:txBody>
          <a:bodyPr/>
          <a:lstStyle/>
          <a:p>
            <a:pPr lvl="0" indent="0" marL="0">
              <a:buNone/>
            </a:pPr>
            <a:r>
              <a:rPr/>
              <a:t>I tested pools 20, 30, 40, and 50 at 50 VUs: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lgn="r">
                        <a:buNone/>
                      </a:pPr>
                      <a:r>
                        <a:rPr/>
                        <a:t>Pool</a:t>
                      </a:r>
                    </a:p>
                  </a:txBody>
                  <a:tcPr/>
                </a:tc>
                <a:tc>
                  <a:txBody>
                    <a:bodyPr/>
                    <a:lstStyle/>
                    <a:p>
                      <a:pPr lvl="0" indent="0" marL="0" algn="r">
                        <a:buNone/>
                      </a:pPr>
                      <a:r>
                        <a:rPr/>
                        <a:t>req/s</a:t>
                      </a:r>
                    </a:p>
                  </a:txBody>
                  <a:tcPr/>
                </a:tc>
                <a:tc>
                  <a:txBody>
                    <a:bodyPr/>
                    <a:lstStyle/>
                    <a:p>
                      <a:pPr lvl="0" indent="0" marL="0" algn="r">
                        <a:buNone/>
                      </a:pPr>
                      <a:r>
                        <a:rPr/>
                        <a:t>Overall p95</a:t>
                      </a:r>
                    </a:p>
                  </a:txBody>
                  <a:tcPr/>
                </a:tc>
                <a:tc>
                  <a:txBody>
                    <a:bodyPr/>
                    <a:lstStyle/>
                    <a:p>
                      <a:pPr lvl="0" indent="0" marL="0" algn="r">
                        <a:buNone/>
                      </a:pPr>
                      <a:r>
                        <a:rPr/>
                        <a:t>PUT p95</a:t>
                      </a:r>
                    </a:p>
                  </a:txBody>
                  <a:tcPr/>
                </a:tc>
                <a:tc>
                  <a:txBody>
                    <a:bodyPr/>
                    <a:lstStyle/>
                    <a:p>
                      <a:pPr lvl="0" indent="0" marL="0" algn="r">
                        <a:buNone/>
                      </a:pPr>
                      <a:r>
                        <a:rPr/>
                        <a:t>Conflicts/s</a:t>
                      </a:r>
                    </a:p>
                  </a:txBody>
                  <a:tcPr/>
                </a:tc>
              </a:tr>
              <a:tr h="0">
                <a:tc>
                  <a:txBody>
                    <a:bodyPr/>
                    <a:lstStyle/>
                    <a:p>
                      <a:pPr lvl="0" indent="0" marL="0" algn="r">
                        <a:buNone/>
                      </a:pPr>
                      <a:r>
                        <a:rPr/>
                        <a:t>20</a:t>
                      </a:r>
                    </a:p>
                  </a:txBody>
                </a:tc>
                <a:tc>
                  <a:txBody>
                    <a:bodyPr/>
                    <a:lstStyle/>
                    <a:p>
                      <a:pPr lvl="0" indent="0" marL="0" algn="r">
                        <a:buNone/>
                      </a:pPr>
                      <a:r>
                        <a:rPr/>
                        <a:t>8,509</a:t>
                      </a:r>
                    </a:p>
                  </a:txBody>
                </a:tc>
                <a:tc>
                  <a:txBody>
                    <a:bodyPr/>
                    <a:lstStyle/>
                    <a:p>
                      <a:pPr lvl="0" indent="0" marL="0" algn="r">
                        <a:buNone/>
                      </a:pPr>
                      <a:r>
                        <a:rPr/>
                        <a:t>9.20 ms</a:t>
                      </a:r>
                    </a:p>
                  </a:txBody>
                </a:tc>
                <a:tc>
                  <a:txBody>
                    <a:bodyPr/>
                    <a:lstStyle/>
                    <a:p>
                      <a:pPr lvl="0" indent="0" marL="0" algn="r">
                        <a:buNone/>
                      </a:pPr>
                      <a:r>
                        <a:rPr/>
                        <a:t>10.65 ms</a:t>
                      </a:r>
                    </a:p>
                  </a:txBody>
                </a:tc>
                <a:tc>
                  <a:txBody>
                    <a:bodyPr/>
                    <a:lstStyle/>
                    <a:p>
                      <a:pPr lvl="0" indent="0" marL="0" algn="r">
                        <a:buNone/>
                      </a:pPr>
                      <a:r>
                        <a:rPr/>
                        <a:t>24</a:t>
                      </a:r>
                    </a:p>
                  </a:txBody>
                </a:tc>
              </a:tr>
              <a:tr h="0">
                <a:tc>
                  <a:txBody>
                    <a:bodyPr/>
                    <a:lstStyle/>
                    <a:p>
                      <a:pPr lvl="0" indent="0" marL="0" algn="r">
                        <a:buNone/>
                      </a:pPr>
                      <a:r>
                        <a:rPr/>
                        <a:t>30</a:t>
                      </a:r>
                    </a:p>
                  </a:txBody>
                </a:tc>
                <a:tc>
                  <a:txBody>
                    <a:bodyPr/>
                    <a:lstStyle/>
                    <a:p>
                      <a:pPr lvl="0" indent="0" marL="0" algn="r">
                        <a:buNone/>
                      </a:pPr>
                      <a:r>
                        <a:rPr/>
                        <a:t>8,588</a:t>
                      </a:r>
                    </a:p>
                  </a:txBody>
                </a:tc>
                <a:tc>
                  <a:txBody>
                    <a:bodyPr/>
                    <a:lstStyle/>
                    <a:p>
                      <a:pPr lvl="0" indent="0" marL="0" algn="r">
                        <a:buNone/>
                      </a:pPr>
                      <a:r>
                        <a:rPr/>
                        <a:t>8.65 ms</a:t>
                      </a:r>
                    </a:p>
                  </a:txBody>
                </a:tc>
                <a:tc>
                  <a:txBody>
                    <a:bodyPr/>
                    <a:lstStyle/>
                    <a:p>
                      <a:pPr lvl="0" indent="0" marL="0" algn="r">
                        <a:buNone/>
                      </a:pPr>
                      <a:r>
                        <a:rPr/>
                        <a:t>10.11 ms</a:t>
                      </a:r>
                    </a:p>
                  </a:txBody>
                </a:tc>
                <a:tc>
                  <a:txBody>
                    <a:bodyPr/>
                    <a:lstStyle/>
                    <a:p>
                      <a:pPr lvl="0" indent="0" marL="0" algn="r">
                        <a:buNone/>
                      </a:pPr>
                      <a:r>
                        <a:rPr/>
                        <a:t>25</a:t>
                      </a:r>
                    </a:p>
                  </a:txBody>
                </a:tc>
              </a:tr>
              <a:tr h="0">
                <a:tc>
                  <a:txBody>
                    <a:bodyPr/>
                    <a:lstStyle/>
                    <a:p>
                      <a:pPr lvl="0" indent="0" marL="0" algn="r">
                        <a:buNone/>
                      </a:pPr>
                      <a:r>
                        <a:rPr b="1"/>
                        <a:t>40</a:t>
                      </a:r>
                    </a:p>
                  </a:txBody>
                </a:tc>
                <a:tc>
                  <a:txBody>
                    <a:bodyPr/>
                    <a:lstStyle/>
                    <a:p>
                      <a:pPr lvl="0" indent="0" marL="0" algn="r">
                        <a:buNone/>
                      </a:pPr>
                      <a:r>
                        <a:rPr b="1"/>
                        <a:t>10,028</a:t>
                      </a:r>
                    </a:p>
                  </a:txBody>
                </a:tc>
                <a:tc>
                  <a:txBody>
                    <a:bodyPr/>
                    <a:lstStyle/>
                    <a:p>
                      <a:pPr lvl="0" indent="0" marL="0" algn="r">
                        <a:buNone/>
                      </a:pPr>
                      <a:r>
                        <a:rPr b="1"/>
                        <a:t>10.72 ms</a:t>
                      </a:r>
                    </a:p>
                  </a:txBody>
                </a:tc>
                <a:tc>
                  <a:txBody>
                    <a:bodyPr/>
                    <a:lstStyle/>
                    <a:p>
                      <a:pPr lvl="0" indent="0" marL="0" algn="r">
                        <a:buNone/>
                      </a:pPr>
                      <a:r>
                        <a:rPr b="1"/>
                        <a:t>14.44 ms</a:t>
                      </a:r>
                    </a:p>
                  </a:txBody>
                </a:tc>
                <a:tc>
                  <a:txBody>
                    <a:bodyPr/>
                    <a:lstStyle/>
                    <a:p>
                      <a:pPr lvl="0" indent="0" marL="0" algn="r">
                        <a:buNone/>
                      </a:pPr>
                      <a:r>
                        <a:rPr b="1"/>
                        <a:t>77</a:t>
                      </a:r>
                    </a:p>
                  </a:txBody>
                </a:tc>
              </a:tr>
              <a:tr h="0">
                <a:tc>
                  <a:txBody>
                    <a:bodyPr/>
                    <a:lstStyle/>
                    <a:p>
                      <a:pPr lvl="0" indent="0" marL="0" algn="r">
                        <a:buNone/>
                      </a:pPr>
                      <a:r>
                        <a:rPr/>
                        <a:t>50</a:t>
                      </a:r>
                    </a:p>
                  </a:txBody>
                </a:tc>
                <a:tc>
                  <a:txBody>
                    <a:bodyPr/>
                    <a:lstStyle/>
                    <a:p>
                      <a:pPr lvl="0" indent="0" marL="0" algn="r">
                        <a:buNone/>
                      </a:pPr>
                      <a:r>
                        <a:rPr/>
                        <a:t>10,131</a:t>
                      </a:r>
                    </a:p>
                  </a:txBody>
                </a:tc>
                <a:tc>
                  <a:txBody>
                    <a:bodyPr/>
                    <a:lstStyle/>
                    <a:p>
                      <a:pPr lvl="0" indent="0" marL="0" algn="r">
                        <a:buNone/>
                      </a:pPr>
                      <a:r>
                        <a:rPr/>
                        <a:t>11.85 ms</a:t>
                      </a:r>
                    </a:p>
                  </a:txBody>
                </a:tc>
                <a:tc>
                  <a:txBody>
                    <a:bodyPr/>
                    <a:lstStyle/>
                    <a:p>
                      <a:pPr lvl="0" indent="0" marL="0" algn="r">
                        <a:buNone/>
                      </a:pPr>
                      <a:r>
                        <a:rPr/>
                        <a:t>14.61 ms</a:t>
                      </a:r>
                    </a:p>
                  </a:txBody>
                </a:tc>
                <a:tc>
                  <a:txBody>
                    <a:bodyPr/>
                    <a:lstStyle/>
                    <a:p>
                      <a:pPr lvl="0" indent="0" marL="0" algn="r">
                        <a:buNone/>
                      </a:pPr>
                      <a:r>
                        <a:rPr/>
                        <a:t>108</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Pool 50 added about 1% throughput over pool 40, with ten more possible connections and more conflicts. I chose 40.</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Pool 40 results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028700"/>
                <a:gridCol w="1028700"/>
                <a:gridCol w="1028700"/>
                <a:gridCol w="1028700"/>
                <a:gridCol w="1028700"/>
                <a:gridCol w="1028700"/>
                <a:gridCol w="1028700"/>
                <a:gridCol w="1028700"/>
              </a:tblGrid>
              <a:tr h="0">
                <a:tc>
                  <a:txBody>
                    <a:bodyPr/>
                    <a:lstStyle/>
                    <a:p>
                      <a:pPr lvl="0" indent="0" marL="0" algn="r">
                        <a:buNone/>
                      </a:pPr>
                      <a:r>
                        <a:rPr/>
                        <a:t>VUs</a:t>
                      </a:r>
                    </a:p>
                  </a:txBody>
                  <a:tcPr/>
                </a:tc>
                <a:tc>
                  <a:txBody>
                    <a:bodyPr/>
                    <a:lstStyle/>
                    <a:p>
                      <a:pPr lvl="0" indent="0" marL="0" algn="r">
                        <a:buNone/>
                      </a:pPr>
                      <a:r>
                        <a:rPr/>
                        <a:t>req/s</a:t>
                      </a:r>
                    </a:p>
                  </a:txBody>
                  <a:tcPr/>
                </a:tc>
                <a:tc>
                  <a:txBody>
                    <a:bodyPr/>
                    <a:lstStyle/>
                    <a:p>
                      <a:pPr lvl="0" indent="0" marL="0" algn="r">
                        <a:buNone/>
                      </a:pPr>
                      <a:r>
                        <a:rPr/>
                        <a:t>GET p50</a:t>
                      </a:r>
                    </a:p>
                  </a:txBody>
                  <a:tcPr/>
                </a:tc>
                <a:tc>
                  <a:txBody>
                    <a:bodyPr/>
                    <a:lstStyle/>
                    <a:p>
                      <a:pPr lvl="0" indent="0" marL="0" algn="r">
                        <a:buNone/>
                      </a:pPr>
                      <a:r>
                        <a:rPr/>
                        <a:t>GET p95</a:t>
                      </a:r>
                    </a:p>
                  </a:txBody>
                  <a:tcPr/>
                </a:tc>
                <a:tc>
                  <a:txBody>
                    <a:bodyPr/>
                    <a:lstStyle/>
                    <a:p>
                      <a:pPr lvl="0" indent="0" marL="0" algn="r">
                        <a:buNone/>
                      </a:pPr>
                      <a:r>
                        <a:rPr/>
                        <a:t>GET p99</a:t>
                      </a:r>
                    </a:p>
                  </a:txBody>
                  <a:tcPr/>
                </a:tc>
                <a:tc>
                  <a:txBody>
                    <a:bodyPr/>
                    <a:lstStyle/>
                    <a:p>
                      <a:pPr lvl="0" indent="0" marL="0" algn="r">
                        <a:buNone/>
                      </a:pPr>
                      <a:r>
                        <a:rPr/>
                        <a:t>Infra errors</a:t>
                      </a:r>
                    </a:p>
                  </a:txBody>
                  <a:tcPr/>
                </a:tc>
                <a:tc>
                  <a:txBody>
                    <a:bodyPr/>
                    <a:lstStyle/>
                    <a:p>
                      <a:pPr lvl="0" indent="0" marL="0" algn="r">
                        <a:buNone/>
                      </a:pPr>
                      <a:r>
                        <a:rPr/>
                        <a:t>Peak CPU</a:t>
                      </a:r>
                    </a:p>
                  </a:txBody>
                  <a:tcPr/>
                </a:tc>
                <a:tc>
                  <a:txBody>
                    <a:bodyPr/>
                    <a:lstStyle/>
                    <a:p>
                      <a:pPr lvl="0" indent="0" marL="0" algn="r">
                        <a:buNone/>
                      </a:pPr>
                      <a:r>
                        <a:rPr/>
                        <a:t>Peak RSS</a:t>
                      </a:r>
                    </a:p>
                  </a:txBody>
                  <a:tcPr/>
                </a:tc>
              </a:tr>
              <a:tr h="0">
                <a:tc>
                  <a:txBody>
                    <a:bodyPr/>
                    <a:lstStyle/>
                    <a:p>
                      <a:pPr lvl="0" indent="0" marL="0" algn="r">
                        <a:buNone/>
                      </a:pPr>
                      <a:r>
                        <a:rPr/>
                        <a:t>10</a:t>
                      </a:r>
                    </a:p>
                  </a:txBody>
                </a:tc>
                <a:tc>
                  <a:txBody>
                    <a:bodyPr/>
                    <a:lstStyle/>
                    <a:p>
                      <a:pPr lvl="0" indent="0" marL="0" algn="r">
                        <a:buNone/>
                      </a:pPr>
                      <a:r>
                        <a:rPr/>
                        <a:t>7,393</a:t>
                      </a:r>
                    </a:p>
                  </a:txBody>
                </a:tc>
                <a:tc>
                  <a:txBody>
                    <a:bodyPr/>
                    <a:lstStyle/>
                    <a:p>
                      <a:pPr lvl="0" indent="0" marL="0" algn="r">
                        <a:buNone/>
                      </a:pPr>
                      <a:r>
                        <a:rPr/>
                        <a:t>0.88 ms</a:t>
                      </a:r>
                    </a:p>
                  </a:txBody>
                </a:tc>
                <a:tc>
                  <a:txBody>
                    <a:bodyPr/>
                    <a:lstStyle/>
                    <a:p>
                      <a:pPr lvl="0" indent="0" marL="0" algn="r">
                        <a:buNone/>
                      </a:pPr>
                      <a:r>
                        <a:rPr/>
                        <a:t>2.15 ms</a:t>
                      </a:r>
                    </a:p>
                  </a:txBody>
                </a:tc>
                <a:tc>
                  <a:txBody>
                    <a:bodyPr/>
                    <a:lstStyle/>
                    <a:p>
                      <a:pPr lvl="0" indent="0" marL="0" algn="r">
                        <a:buNone/>
                      </a:pPr>
                      <a:r>
                        <a:rPr/>
                        <a:t>6.49 ms</a:t>
                      </a:r>
                    </a:p>
                  </a:txBody>
                </a:tc>
                <a:tc>
                  <a:txBody>
                    <a:bodyPr/>
                    <a:lstStyle/>
                    <a:p>
                      <a:pPr lvl="0" indent="0" marL="0" algn="r">
                        <a:buNone/>
                      </a:pPr>
                      <a:r>
                        <a:rPr/>
                        <a:t>0%</a:t>
                      </a:r>
                    </a:p>
                  </a:txBody>
                </a:tc>
                <a:tc>
                  <a:txBody>
                    <a:bodyPr/>
                    <a:lstStyle/>
                    <a:p>
                      <a:pPr lvl="0" indent="0" marL="0" algn="r">
                        <a:buNone/>
                      </a:pPr>
                      <a:r>
                        <a:rPr/>
                        <a:t>93%</a:t>
                      </a:r>
                    </a:p>
                  </a:txBody>
                </a:tc>
                <a:tc>
                  <a:txBody>
                    <a:bodyPr/>
                    <a:lstStyle/>
                    <a:p>
                      <a:pPr lvl="0" indent="0" marL="0" algn="r">
                        <a:buNone/>
                      </a:pPr>
                      <a:r>
                        <a:rPr/>
                        <a:t>211 MiB</a:t>
                      </a:r>
                    </a:p>
                  </a:txBody>
                </a:tc>
              </a:tr>
              <a:tr h="0">
                <a:tc>
                  <a:txBody>
                    <a:bodyPr/>
                    <a:lstStyle/>
                    <a:p>
                      <a:pPr lvl="0" indent="0" marL="0" algn="r">
                        <a:buNone/>
                      </a:pPr>
                      <a:r>
                        <a:rPr/>
                        <a:t>25</a:t>
                      </a:r>
                    </a:p>
                  </a:txBody>
                </a:tc>
                <a:tc>
                  <a:txBody>
                    <a:bodyPr/>
                    <a:lstStyle/>
                    <a:p>
                      <a:pPr lvl="0" indent="0" marL="0" algn="r">
                        <a:buNone/>
                      </a:pPr>
                      <a:r>
                        <a:rPr/>
                        <a:t>10,305</a:t>
                      </a:r>
                    </a:p>
                  </a:txBody>
                </a:tc>
                <a:tc>
                  <a:txBody>
                    <a:bodyPr/>
                    <a:lstStyle/>
                    <a:p>
                      <a:pPr lvl="0" indent="0" marL="0" algn="r">
                        <a:buNone/>
                      </a:pPr>
                      <a:r>
                        <a:rPr/>
                        <a:t>1.67 ms</a:t>
                      </a:r>
                    </a:p>
                  </a:txBody>
                </a:tc>
                <a:tc>
                  <a:txBody>
                    <a:bodyPr/>
                    <a:lstStyle/>
                    <a:p>
                      <a:pPr lvl="0" indent="0" marL="0" algn="r">
                        <a:buNone/>
                      </a:pPr>
                      <a:r>
                        <a:rPr/>
                        <a:t>3.02 ms</a:t>
                      </a:r>
                    </a:p>
                  </a:txBody>
                </a:tc>
                <a:tc>
                  <a:txBody>
                    <a:bodyPr/>
                    <a:lstStyle/>
                    <a:p>
                      <a:pPr lvl="0" indent="0" marL="0" algn="r">
                        <a:buNone/>
                      </a:pPr>
                      <a:r>
                        <a:rPr/>
                        <a:t>4.04 ms</a:t>
                      </a:r>
                    </a:p>
                  </a:txBody>
                </a:tc>
                <a:tc>
                  <a:txBody>
                    <a:bodyPr/>
                    <a:lstStyle/>
                    <a:p>
                      <a:pPr lvl="0" indent="0" marL="0" algn="r">
                        <a:buNone/>
                      </a:pPr>
                      <a:r>
                        <a:rPr/>
                        <a:t>0%</a:t>
                      </a:r>
                    </a:p>
                  </a:txBody>
                </a:tc>
                <a:tc>
                  <a:txBody>
                    <a:bodyPr/>
                    <a:lstStyle/>
                    <a:p>
                      <a:pPr lvl="0" indent="0" marL="0" algn="r">
                        <a:buNone/>
                      </a:pPr>
                      <a:r>
                        <a:rPr/>
                        <a:t>97%</a:t>
                      </a:r>
                    </a:p>
                  </a:txBody>
                </a:tc>
                <a:tc>
                  <a:txBody>
                    <a:bodyPr/>
                    <a:lstStyle/>
                    <a:p>
                      <a:pPr lvl="0" indent="0" marL="0" algn="r">
                        <a:buNone/>
                      </a:pPr>
                      <a:r>
                        <a:rPr/>
                        <a:t>215 MiB</a:t>
                      </a:r>
                    </a:p>
                  </a:txBody>
                </a:tc>
              </a:tr>
              <a:tr h="0">
                <a:tc>
                  <a:txBody>
                    <a:bodyPr/>
                    <a:lstStyle/>
                    <a:p>
                      <a:pPr lvl="0" indent="0" marL="0" algn="r">
                        <a:buNone/>
                      </a:pPr>
                      <a:r>
                        <a:rPr/>
                        <a:t>50</a:t>
                      </a:r>
                    </a:p>
                  </a:txBody>
                </a:tc>
                <a:tc>
                  <a:txBody>
                    <a:bodyPr/>
                    <a:lstStyle/>
                    <a:p>
                      <a:pPr lvl="0" indent="0" marL="0" algn="r">
                        <a:buNone/>
                      </a:pPr>
                      <a:r>
                        <a:rPr/>
                        <a:t>10,159</a:t>
                      </a:r>
                    </a:p>
                  </a:txBody>
                </a:tc>
                <a:tc>
                  <a:txBody>
                    <a:bodyPr/>
                    <a:lstStyle/>
                    <a:p>
                      <a:pPr lvl="0" indent="0" marL="0" algn="r">
                        <a:buNone/>
                      </a:pPr>
                      <a:r>
                        <a:rPr/>
                        <a:t>3.74 ms</a:t>
                      </a:r>
                    </a:p>
                  </a:txBody>
                </a:tc>
                <a:tc>
                  <a:txBody>
                    <a:bodyPr/>
                    <a:lstStyle/>
                    <a:p>
                      <a:pPr lvl="0" indent="0" marL="0" algn="r">
                        <a:buNone/>
                      </a:pPr>
                      <a:r>
                        <a:rPr/>
                        <a:t>6.07 ms</a:t>
                      </a:r>
                    </a:p>
                  </a:txBody>
                </a:tc>
                <a:tc>
                  <a:txBody>
                    <a:bodyPr/>
                    <a:lstStyle/>
                    <a:p>
                      <a:pPr lvl="0" indent="0" marL="0" algn="r">
                        <a:buNone/>
                      </a:pPr>
                      <a:r>
                        <a:rPr/>
                        <a:t>8.48 ms</a:t>
                      </a:r>
                    </a:p>
                  </a:txBody>
                </a:tc>
                <a:tc>
                  <a:txBody>
                    <a:bodyPr/>
                    <a:lstStyle/>
                    <a:p>
                      <a:pPr lvl="0" indent="0" marL="0" algn="r">
                        <a:buNone/>
                      </a:pPr>
                      <a:r>
                        <a:rPr/>
                        <a:t>0%</a:t>
                      </a:r>
                    </a:p>
                  </a:txBody>
                </a:tc>
                <a:tc>
                  <a:txBody>
                    <a:bodyPr/>
                    <a:lstStyle/>
                    <a:p>
                      <a:pPr lvl="0" indent="0" marL="0" algn="r">
                        <a:buNone/>
                      </a:pPr>
                      <a:r>
                        <a:rPr/>
                        <a:t>105%</a:t>
                      </a:r>
                    </a:p>
                  </a:txBody>
                </a:tc>
                <a:tc>
                  <a:txBody>
                    <a:bodyPr/>
                    <a:lstStyle/>
                    <a:p>
                      <a:pPr lvl="0" indent="0" marL="0" algn="r">
                        <a:buNone/>
                      </a:pPr>
                      <a:r>
                        <a:rPr/>
                        <a:t>207 MiB</a:t>
                      </a:r>
                    </a:p>
                  </a:txBody>
                </a:tc>
              </a:tr>
              <a:tr h="0">
                <a:tc>
                  <a:txBody>
                    <a:bodyPr/>
                    <a:lstStyle/>
                    <a:p>
                      <a:pPr lvl="0" indent="0" marL="0" algn="r">
                        <a:buNone/>
                      </a:pPr>
                      <a:r>
                        <a:rPr/>
                        <a:t>100</a:t>
                      </a:r>
                    </a:p>
                  </a:txBody>
                </a:tc>
                <a:tc>
                  <a:txBody>
                    <a:bodyPr/>
                    <a:lstStyle/>
                    <a:p>
                      <a:pPr lvl="0" indent="0" marL="0" algn="r">
                        <a:buNone/>
                      </a:pPr>
                      <a:r>
                        <a:rPr/>
                        <a:t>6,342</a:t>
                      </a:r>
                    </a:p>
                  </a:txBody>
                </a:tc>
                <a:tc>
                  <a:txBody>
                    <a:bodyPr/>
                    <a:lstStyle/>
                    <a:p>
                      <a:pPr lvl="0" indent="0" marL="0" algn="r">
                        <a:buNone/>
                      </a:pPr>
                      <a:r>
                        <a:rPr/>
                        <a:t>15.01 ms</a:t>
                      </a:r>
                    </a:p>
                  </a:txBody>
                </a:tc>
                <a:tc>
                  <a:txBody>
                    <a:bodyPr/>
                    <a:lstStyle/>
                    <a:p>
                      <a:pPr lvl="0" indent="0" marL="0" algn="r">
                        <a:buNone/>
                      </a:pPr>
                      <a:r>
                        <a:rPr/>
                        <a:t>20.92 ms</a:t>
                      </a:r>
                    </a:p>
                  </a:txBody>
                </a:tc>
                <a:tc>
                  <a:txBody>
                    <a:bodyPr/>
                    <a:lstStyle/>
                    <a:p>
                      <a:pPr lvl="0" indent="0" marL="0" algn="r">
                        <a:buNone/>
                      </a:pPr>
                      <a:r>
                        <a:rPr/>
                        <a:t>23.00 ms</a:t>
                      </a:r>
                    </a:p>
                  </a:txBody>
                </a:tc>
                <a:tc>
                  <a:txBody>
                    <a:bodyPr/>
                    <a:lstStyle/>
                    <a:p>
                      <a:pPr lvl="0" indent="0" marL="0" algn="r">
                        <a:buNone/>
                      </a:pPr>
                      <a:r>
                        <a:rPr/>
                        <a:t>0%</a:t>
                      </a:r>
                    </a:p>
                  </a:txBody>
                </a:tc>
                <a:tc>
                  <a:txBody>
                    <a:bodyPr/>
                    <a:lstStyle/>
                    <a:p>
                      <a:pPr lvl="0" indent="0" marL="0" algn="r">
                        <a:buNone/>
                      </a:pPr>
                      <a:r>
                        <a:rPr/>
                        <a:t>109%</a:t>
                      </a:r>
                    </a:p>
                  </a:txBody>
                </a:tc>
                <a:tc>
                  <a:txBody>
                    <a:bodyPr/>
                    <a:lstStyle/>
                    <a:p>
                      <a:pPr lvl="0" indent="0" marL="0" algn="r">
                        <a:buNone/>
                      </a:pPr>
                      <a:r>
                        <a:rPr/>
                        <a:t>287 MiB</a:t>
                      </a:r>
                    </a:p>
                  </a:txBody>
                </a:tc>
              </a:tr>
              <a:tr h="0">
                <a:tc>
                  <a:txBody>
                    <a:bodyPr/>
                    <a:lstStyle/>
                    <a:p>
                      <a:pPr lvl="0" indent="0" marL="0" algn="r">
                        <a:buNone/>
                      </a:pPr>
                      <a:r>
                        <a:rPr/>
                        <a:t>200</a:t>
                      </a:r>
                    </a:p>
                  </a:txBody>
                </a:tc>
                <a:tc>
                  <a:txBody>
                    <a:bodyPr/>
                    <a:lstStyle/>
                    <a:p>
                      <a:pPr lvl="0" indent="0" marL="0" algn="r">
                        <a:buNone/>
                      </a:pPr>
                      <a:r>
                        <a:rPr/>
                        <a:t>4,199</a:t>
                      </a:r>
                    </a:p>
                  </a:txBody>
                </a:tc>
                <a:tc>
                  <a:txBody>
                    <a:bodyPr/>
                    <a:lstStyle/>
                    <a:p>
                      <a:pPr lvl="0" indent="0" marL="0" algn="r">
                        <a:buNone/>
                      </a:pPr>
                      <a:r>
                        <a:rPr/>
                        <a:t>46.49 ms</a:t>
                      </a:r>
                    </a:p>
                  </a:txBody>
                </a:tc>
                <a:tc>
                  <a:txBody>
                    <a:bodyPr/>
                    <a:lstStyle/>
                    <a:p>
                      <a:pPr lvl="0" indent="0" marL="0" algn="r">
                        <a:buNone/>
                      </a:pPr>
                      <a:r>
                        <a:rPr/>
                        <a:t>63.59 ms</a:t>
                      </a:r>
                    </a:p>
                  </a:txBody>
                </a:tc>
                <a:tc>
                  <a:txBody>
                    <a:bodyPr/>
                    <a:lstStyle/>
                    <a:p>
                      <a:pPr lvl="0" indent="0" marL="0" algn="r">
                        <a:buNone/>
                      </a:pPr>
                      <a:r>
                        <a:rPr/>
                        <a:t>79.29 ms</a:t>
                      </a:r>
                    </a:p>
                  </a:txBody>
                </a:tc>
                <a:tc>
                  <a:txBody>
                    <a:bodyPr/>
                    <a:lstStyle/>
                    <a:p>
                      <a:pPr lvl="0" indent="0" marL="0" algn="r">
                        <a:buNone/>
                      </a:pPr>
                      <a:r>
                        <a:rPr/>
                        <a:t>0%</a:t>
                      </a:r>
                    </a:p>
                  </a:txBody>
                </a:tc>
                <a:tc>
                  <a:txBody>
                    <a:bodyPr/>
                    <a:lstStyle/>
                    <a:p>
                      <a:pPr lvl="0" indent="0" marL="0" algn="r">
                        <a:buNone/>
                      </a:pPr>
                      <a:r>
                        <a:rPr/>
                        <a:t>105%</a:t>
                      </a:r>
                    </a:p>
                  </a:txBody>
                </a:tc>
                <a:tc>
                  <a:txBody>
                    <a:bodyPr/>
                    <a:lstStyle/>
                    <a:p>
                      <a:pPr lvl="0" indent="0" marL="0" algn="r">
                        <a:buNone/>
                      </a:pPr>
                      <a:r>
                        <a:rPr/>
                        <a:t>331 MiB</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25 VUs was the highest tested point before degradation. At 50 VUs, throughput was almost unchanged while GET p95 roughly doubled.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and after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pPr lvl="0" indent="0" marL="0" algn="r">
                        <a:buNone/>
                      </a:pPr>
                      <a:r>
                        <a:rPr/>
                        <a:t>VUs</a:t>
                      </a:r>
                    </a:p>
                  </a:txBody>
                  <a:tcPr/>
                </a:tc>
                <a:tc>
                  <a:txBody>
                    <a:bodyPr/>
                    <a:lstStyle/>
                    <a:p>
                      <a:pPr lvl="0" indent="0" marL="0" algn="r">
                        <a:buNone/>
                      </a:pPr>
                      <a:r>
                        <a:rPr/>
                        <a:t>Pool 10 req/s</a:t>
                      </a:r>
                    </a:p>
                  </a:txBody>
                  <a:tcPr/>
                </a:tc>
                <a:tc>
                  <a:txBody>
                    <a:bodyPr/>
                    <a:lstStyle/>
                    <a:p>
                      <a:pPr lvl="0" indent="0" marL="0" algn="r">
                        <a:buNone/>
                      </a:pPr>
                      <a:r>
                        <a:rPr/>
                        <a:t>Pool 40 req/s</a:t>
                      </a:r>
                    </a:p>
                  </a:txBody>
                  <a:tcPr/>
                </a:tc>
                <a:tc>
                  <a:txBody>
                    <a:bodyPr/>
                    <a:lstStyle/>
                    <a:p>
                      <a:pPr lvl="0" indent="0" marL="0" algn="r">
                        <a:buNone/>
                      </a:pPr>
                      <a:r>
                        <a:rPr/>
                        <a:t>Change</a:t>
                      </a:r>
                    </a:p>
                  </a:txBody>
                  <a:tcPr/>
                </a:tc>
                <a:tc>
                  <a:txBody>
                    <a:bodyPr/>
                    <a:lstStyle/>
                    <a:p>
                      <a:pPr lvl="0" indent="0" marL="0" algn="r">
                        <a:buNone/>
                      </a:pPr>
                      <a:r>
                        <a:rPr/>
                        <a:t>Pool 10 GET p95</a:t>
                      </a:r>
                    </a:p>
                  </a:txBody>
                  <a:tcPr/>
                </a:tc>
                <a:tc>
                  <a:txBody>
                    <a:bodyPr/>
                    <a:lstStyle/>
                    <a:p>
                      <a:pPr lvl="0" indent="0" marL="0" algn="r">
                        <a:buNone/>
                      </a:pPr>
                      <a:r>
                        <a:rPr/>
                        <a:t>Pool 40 GET p95</a:t>
                      </a:r>
                    </a:p>
                  </a:txBody>
                  <a:tcPr/>
                </a:tc>
              </a:tr>
              <a:tr h="0">
                <a:tc>
                  <a:txBody>
                    <a:bodyPr/>
                    <a:lstStyle/>
                    <a:p>
                      <a:pPr lvl="0" indent="0" marL="0" algn="r">
                        <a:buNone/>
                      </a:pPr>
                      <a:r>
                        <a:rPr/>
                        <a:t>10</a:t>
                      </a:r>
                    </a:p>
                  </a:txBody>
                </a:tc>
                <a:tc>
                  <a:txBody>
                    <a:bodyPr/>
                    <a:lstStyle/>
                    <a:p>
                      <a:pPr lvl="0" indent="0" marL="0" algn="r">
                        <a:buNone/>
                      </a:pPr>
                      <a:r>
                        <a:rPr/>
                        <a:t>8,708</a:t>
                      </a:r>
                    </a:p>
                  </a:txBody>
                </a:tc>
                <a:tc>
                  <a:txBody>
                    <a:bodyPr/>
                    <a:lstStyle/>
                    <a:p>
                      <a:pPr lvl="0" indent="0" marL="0" algn="r">
                        <a:buNone/>
                      </a:pPr>
                      <a:r>
                        <a:rPr/>
                        <a:t>7,393</a:t>
                      </a:r>
                    </a:p>
                  </a:txBody>
                </a:tc>
                <a:tc>
                  <a:txBody>
                    <a:bodyPr/>
                    <a:lstStyle/>
                    <a:p>
                      <a:pPr lvl="0" indent="0" marL="0" algn="r">
                        <a:buNone/>
                      </a:pPr>
                      <a:r>
                        <a:rPr/>
                        <a:t>−15.1%</a:t>
                      </a:r>
                    </a:p>
                  </a:txBody>
                </a:tc>
                <a:tc>
                  <a:txBody>
                    <a:bodyPr/>
                    <a:lstStyle/>
                    <a:p>
                      <a:pPr lvl="0" indent="0" marL="0" algn="r">
                        <a:buNone/>
                      </a:pPr>
                      <a:r>
                        <a:rPr/>
                        <a:t>1.33 ms</a:t>
                      </a:r>
                    </a:p>
                  </a:txBody>
                </a:tc>
                <a:tc>
                  <a:txBody>
                    <a:bodyPr/>
                    <a:lstStyle/>
                    <a:p>
                      <a:pPr lvl="0" indent="0" marL="0" algn="r">
                        <a:buNone/>
                      </a:pPr>
                      <a:r>
                        <a:rPr/>
                        <a:t>2.15 ms</a:t>
                      </a:r>
                    </a:p>
                  </a:txBody>
                </a:tc>
              </a:tr>
              <a:tr h="0">
                <a:tc>
                  <a:txBody>
                    <a:bodyPr/>
                    <a:lstStyle/>
                    <a:p>
                      <a:pPr lvl="0" indent="0" marL="0" algn="r">
                        <a:buNone/>
                      </a:pPr>
                      <a:r>
                        <a:rPr/>
                        <a:t>25</a:t>
                      </a:r>
                    </a:p>
                  </a:txBody>
                </a:tc>
                <a:tc>
                  <a:txBody>
                    <a:bodyPr/>
                    <a:lstStyle/>
                    <a:p>
                      <a:pPr lvl="0" indent="0" marL="0" algn="r">
                        <a:buNone/>
                      </a:pPr>
                      <a:r>
                        <a:rPr/>
                        <a:t>7,298</a:t>
                      </a:r>
                    </a:p>
                  </a:txBody>
                </a:tc>
                <a:tc>
                  <a:txBody>
                    <a:bodyPr/>
                    <a:lstStyle/>
                    <a:p>
                      <a:pPr lvl="0" indent="0" marL="0" algn="r">
                        <a:buNone/>
                      </a:pPr>
                      <a:r>
                        <a:rPr/>
                        <a:t>10,305</a:t>
                      </a:r>
                    </a:p>
                  </a:txBody>
                </a:tc>
                <a:tc>
                  <a:txBody>
                    <a:bodyPr/>
                    <a:lstStyle/>
                    <a:p>
                      <a:pPr lvl="0" indent="0" marL="0" algn="r">
                        <a:buNone/>
                      </a:pPr>
                      <a:r>
                        <a:rPr/>
                        <a:t>+41.2%</a:t>
                      </a:r>
                    </a:p>
                  </a:txBody>
                </a:tc>
                <a:tc>
                  <a:txBody>
                    <a:bodyPr/>
                    <a:lstStyle/>
                    <a:p>
                      <a:pPr lvl="0" indent="0" marL="0" algn="r">
                        <a:buNone/>
                      </a:pPr>
                      <a:r>
                        <a:rPr/>
                        <a:t>4.82 ms</a:t>
                      </a:r>
                    </a:p>
                  </a:txBody>
                </a:tc>
                <a:tc>
                  <a:txBody>
                    <a:bodyPr/>
                    <a:lstStyle/>
                    <a:p>
                      <a:pPr lvl="0" indent="0" marL="0" algn="r">
                        <a:buNone/>
                      </a:pPr>
                      <a:r>
                        <a:rPr/>
                        <a:t>3.02 ms</a:t>
                      </a:r>
                    </a:p>
                  </a:txBody>
                </a:tc>
              </a:tr>
              <a:tr h="0">
                <a:tc>
                  <a:txBody>
                    <a:bodyPr/>
                    <a:lstStyle/>
                    <a:p>
                      <a:pPr lvl="0" indent="0" marL="0" algn="r">
                        <a:buNone/>
                      </a:pPr>
                      <a:r>
                        <a:rPr/>
                        <a:t>50</a:t>
                      </a:r>
                    </a:p>
                  </a:txBody>
                </a:tc>
                <a:tc>
                  <a:txBody>
                    <a:bodyPr/>
                    <a:lstStyle/>
                    <a:p>
                      <a:pPr lvl="0" indent="0" marL="0" algn="r">
                        <a:buNone/>
                      </a:pPr>
                      <a:r>
                        <a:rPr/>
                        <a:t>4,396</a:t>
                      </a:r>
                    </a:p>
                  </a:txBody>
                </a:tc>
                <a:tc>
                  <a:txBody>
                    <a:bodyPr/>
                    <a:lstStyle/>
                    <a:p>
                      <a:pPr lvl="0" indent="0" marL="0" algn="r">
                        <a:buNone/>
                      </a:pPr>
                      <a:r>
                        <a:rPr/>
                        <a:t>10,159</a:t>
                      </a:r>
                    </a:p>
                  </a:txBody>
                </a:tc>
                <a:tc>
                  <a:txBody>
                    <a:bodyPr/>
                    <a:lstStyle/>
                    <a:p>
                      <a:pPr lvl="0" indent="0" marL="0" algn="r">
                        <a:buNone/>
                      </a:pPr>
                      <a:r>
                        <a:rPr/>
                        <a:t>+131.1%</a:t>
                      </a:r>
                    </a:p>
                  </a:txBody>
                </a:tc>
                <a:tc>
                  <a:txBody>
                    <a:bodyPr/>
                    <a:lstStyle/>
                    <a:p>
                      <a:pPr lvl="0" indent="0" marL="0" algn="r">
                        <a:buNone/>
                      </a:pPr>
                      <a:r>
                        <a:rPr/>
                        <a:t>15.31 ms</a:t>
                      </a:r>
                    </a:p>
                  </a:txBody>
                </a:tc>
                <a:tc>
                  <a:txBody>
                    <a:bodyPr/>
                    <a:lstStyle/>
                    <a:p>
                      <a:pPr lvl="0" indent="0" marL="0" algn="r">
                        <a:buNone/>
                      </a:pPr>
                      <a:r>
                        <a:rPr/>
                        <a:t>6.07 ms</a:t>
                      </a:r>
                    </a:p>
                  </a:txBody>
                </a:tc>
              </a:tr>
              <a:tr h="0">
                <a:tc>
                  <a:txBody>
                    <a:bodyPr/>
                    <a:lstStyle/>
                    <a:p>
                      <a:pPr lvl="0" indent="0" marL="0" algn="r">
                        <a:buNone/>
                      </a:pPr>
                      <a:r>
                        <a:rPr/>
                        <a:t>100</a:t>
                      </a:r>
                    </a:p>
                  </a:txBody>
                </a:tc>
                <a:tc>
                  <a:txBody>
                    <a:bodyPr/>
                    <a:lstStyle/>
                    <a:p>
                      <a:pPr lvl="0" indent="0" marL="0" algn="r">
                        <a:buNone/>
                      </a:pPr>
                      <a:r>
                        <a:rPr/>
                        <a:t>3,373</a:t>
                      </a:r>
                    </a:p>
                  </a:txBody>
                </a:tc>
                <a:tc>
                  <a:txBody>
                    <a:bodyPr/>
                    <a:lstStyle/>
                    <a:p>
                      <a:pPr lvl="0" indent="0" marL="0" algn="r">
                        <a:buNone/>
                      </a:pPr>
                      <a:r>
                        <a:rPr/>
                        <a:t>6,342</a:t>
                      </a:r>
                    </a:p>
                  </a:txBody>
                </a:tc>
                <a:tc>
                  <a:txBody>
                    <a:bodyPr/>
                    <a:lstStyle/>
                    <a:p>
                      <a:pPr lvl="0" indent="0" marL="0" algn="r">
                        <a:buNone/>
                      </a:pPr>
                      <a:r>
                        <a:rPr/>
                        <a:t>+88.1%</a:t>
                      </a:r>
                    </a:p>
                  </a:txBody>
                </a:tc>
                <a:tc>
                  <a:txBody>
                    <a:bodyPr/>
                    <a:lstStyle/>
                    <a:p>
                      <a:pPr lvl="0" indent="0" marL="0" algn="r">
                        <a:buNone/>
                      </a:pPr>
                      <a:r>
                        <a:rPr/>
                        <a:t>40.20 ms</a:t>
                      </a:r>
                    </a:p>
                  </a:txBody>
                </a:tc>
                <a:tc>
                  <a:txBody>
                    <a:bodyPr/>
                    <a:lstStyle/>
                    <a:p>
                      <a:pPr lvl="0" indent="0" marL="0" algn="r">
                        <a:buNone/>
                      </a:pPr>
                      <a:r>
                        <a:rPr/>
                        <a:t>20.92 ms</a:t>
                      </a:r>
                    </a:p>
                  </a:txBody>
                </a:tc>
              </a:tr>
              <a:tr h="0">
                <a:tc>
                  <a:txBody>
                    <a:bodyPr/>
                    <a:lstStyle/>
                    <a:p>
                      <a:pPr lvl="0" indent="0" marL="0" algn="r">
                        <a:buNone/>
                      </a:pPr>
                      <a:r>
                        <a:rPr/>
                        <a:t>200</a:t>
                      </a:r>
                    </a:p>
                  </a:txBody>
                </a:tc>
                <a:tc>
                  <a:txBody>
                    <a:bodyPr/>
                    <a:lstStyle/>
                    <a:p>
                      <a:pPr lvl="0" indent="0" marL="0" algn="r">
                        <a:buNone/>
                      </a:pPr>
                      <a:r>
                        <a:rPr/>
                        <a:t>2,860</a:t>
                      </a:r>
                    </a:p>
                  </a:txBody>
                </a:tc>
                <a:tc>
                  <a:txBody>
                    <a:bodyPr/>
                    <a:lstStyle/>
                    <a:p>
                      <a:pPr lvl="0" indent="0" marL="0" algn="r">
                        <a:buNone/>
                      </a:pPr>
                      <a:r>
                        <a:rPr/>
                        <a:t>4,199</a:t>
                      </a:r>
                    </a:p>
                  </a:txBody>
                </a:tc>
                <a:tc>
                  <a:txBody>
                    <a:bodyPr/>
                    <a:lstStyle/>
                    <a:p>
                      <a:pPr lvl="0" indent="0" marL="0" algn="r">
                        <a:buNone/>
                      </a:pPr>
                      <a:r>
                        <a:rPr/>
                        <a:t>+46.8%</a:t>
                      </a:r>
                    </a:p>
                  </a:txBody>
                </a:tc>
                <a:tc>
                  <a:txBody>
                    <a:bodyPr/>
                    <a:lstStyle/>
                    <a:p>
                      <a:pPr lvl="0" indent="0" marL="0" algn="r">
                        <a:buNone/>
                      </a:pPr>
                      <a:r>
                        <a:rPr/>
                        <a:t>90.36 ms</a:t>
                      </a:r>
                    </a:p>
                  </a:txBody>
                </a:tc>
                <a:tc>
                  <a:txBody>
                    <a:bodyPr/>
                    <a:lstStyle/>
                    <a:p>
                      <a:pPr lvl="0" indent="0" marL="0" algn="r">
                        <a:buNone/>
                      </a:pPr>
                      <a:r>
                        <a:rPr/>
                        <a:t>63.59 ms</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Peak measured throughput increased by 18%</a:t>
            </a:r>
          </a:p>
          <a:p>
            <a:pPr lvl="0"/>
            <a:r>
              <a:rPr/>
              <a:t>The first observed degradation moved from 25 to 50 VUs</a:t>
            </a:r>
          </a:p>
          <a:p>
            <a:pPr lvl="0"/>
            <a:r>
              <a:rPr/>
              <a:t>Unexpected infrastructure failures remained at 0%</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Trade-offs, assumptions, and limits</a:t>
            </a:r>
          </a:p>
        </p:txBody>
      </p:sp>
      <p:sp>
        <p:nvSpPr>
          <p:cNvPr id="3" name="Content Placeholder 2"/>
          <p:cNvSpPr>
            <a:spLocks noGrp="1"/>
          </p:cNvSpPr>
          <p:nvPr>
            <p:ph idx="1"/>
          </p:nvPr>
        </p:nvSpPr>
        <p:spPr/>
        <p:txBody>
          <a:bodyPr/>
          <a:lstStyle/>
          <a:p>
            <a:pPr lvl="0" indent="0" marL="0">
              <a:buNone/>
            </a:pPr>
            <a:r>
              <a:rPr/>
              <a:t>Trade-offs:</a:t>
            </a:r>
          </a:p>
          <a:p>
            <a:pPr lvl="0"/>
            <a:r>
              <a:rPr/>
              <a:t>Append-only versions preserve history, but use more storage and leave stale-edit handling unresolved.</a:t>
            </a:r>
          </a:p>
          <a:p>
            <a:pPr lvl="0"/>
            <a:r>
              <a:rPr>
                <a:latin typeface="Courier"/>
              </a:rPr>
              <a:t>409</a:t>
            </a:r>
            <a:r>
              <a:rPr/>
              <a:t> prevents a silent overwrite, but still represents unsuccessful work for the user.</a:t>
            </a:r>
          </a:p>
          <a:p>
            <a:pPr lvl="0"/>
            <a:r>
              <a:rPr/>
              <a:t>Pool 40 favored throughput. Pool 30 had lower latency, fewer conflicts, and used fewer connections.</a:t>
            </a:r>
          </a:p>
          <a:p>
            <a:pPr lvl="0"/>
            <a:r>
              <a:rPr/>
              <a:t>The closed-loop workload finds saturation quickly, but is not representative user behavior.</a:t>
            </a:r>
          </a:p>
          <a:p>
            <a:pPr lvl="0" indent="0" marL="0">
              <a:buNone/>
            </a:pPr>
            <a:r>
              <a:rPr/>
              <a:t>Limitations:</a:t>
            </a:r>
          </a:p>
          <a:p>
            <a:pPr lvl="0"/>
            <a:r>
              <a:rPr/>
              <a:t>Small payloads, 50 hot notes, fixed 70/20/10 traffic, and no think time.</a:t>
            </a:r>
          </a:p>
          <a:p>
            <a:pPr lvl="0"/>
            <a:r>
              <a:rPr/>
              <a:t>API, k6, and Dockerized PostgreSQL ran on one machine; there was no TLS, ingress, or authentication.</a:t>
            </a:r>
          </a:p>
          <a:p>
            <a:pPr lvl="0"/>
            <a:r>
              <a:rPr/>
              <a:t>Most configurations have one 60-second measured run, so small differences may be noise.</a:t>
            </a:r>
          </a:p>
          <a:p>
            <a:pPr lvl="0"/>
            <a:r>
              <a:rPr/>
              <a:t>One-second PostgreSQL samples can miss millisecond contention; pool wait and event-loop lag were not measured.</a:t>
            </a:r>
          </a:p>
          <a:p>
            <a:pPr lvl="0"/>
            <a:r>
              <a:rPr/>
              <a:t>Throughput includes expected </a:t>
            </a:r>
            <a:r>
              <a:rPr>
                <a:latin typeface="Courier"/>
              </a:rPr>
              <a:t>409</a:t>
            </a:r>
            <a:r>
              <a:rPr/>
              <a:t>s, so it is not identical to successful business work.</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 small follow-up with two Node processes</a:t>
            </a:r>
          </a:p>
        </p:txBody>
      </p:sp>
      <p:sp>
        <p:nvSpPr>
          <p:cNvPr id="4" name="Text Placeholder 3"/>
          <p:cNvSpPr>
            <a:spLocks noGrp="1"/>
          </p:cNvSpPr>
          <p:nvPr>
            <p:ph idx="2" sz="half" type="body"/>
          </p:nvPr>
        </p:nvSpPr>
        <p:spPr/>
        <p:txBody>
          <a:bodyPr/>
          <a:lstStyle/>
          <a:p>
            <a:pPr lvl="0" indent="0" marL="0">
              <a:buNone/>
            </a:pPr>
            <a:r>
              <a:rPr/>
              <a:t>At 200 VUs, keeping the total pool limit at 40:</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lgn="r">
                        <a:buNone/>
                      </a:pPr>
                      <a:r>
                        <a:rPr/>
                        <a:t>1 process × pool 40</a:t>
                      </a:r>
                    </a:p>
                  </a:txBody>
                  <a:tcPr/>
                </a:tc>
                <a:tc>
                  <a:txBody>
                    <a:bodyPr/>
                    <a:lstStyle/>
                    <a:p>
                      <a:pPr lvl="0" indent="0" marL="0" algn="r">
                        <a:buNone/>
                      </a:pPr>
                      <a:r>
                        <a:rPr/>
                        <a:t>2 processes × pool 20</a:t>
                      </a:r>
                    </a:p>
                  </a:txBody>
                  <a:tcPr/>
                </a:tc>
              </a:tr>
              <a:tr h="0">
                <a:tc>
                  <a:txBody>
                    <a:bodyPr/>
                    <a:lstStyle/>
                    <a:p>
                      <a:pPr lvl="0" indent="0" marL="0">
                        <a:buNone/>
                      </a:pPr>
                      <a:r>
                        <a:rPr/>
                        <a:t>Throughput</a:t>
                      </a:r>
                    </a:p>
                  </a:txBody>
                </a:tc>
                <a:tc>
                  <a:txBody>
                    <a:bodyPr/>
                    <a:lstStyle/>
                    <a:p>
                      <a:pPr lvl="0" indent="0" marL="0" algn="r">
                        <a:buNone/>
                      </a:pPr>
                      <a:r>
                        <a:rPr/>
                        <a:t>4,199 req/s</a:t>
                      </a:r>
                    </a:p>
                  </a:txBody>
                </a:tc>
                <a:tc>
                  <a:txBody>
                    <a:bodyPr/>
                    <a:lstStyle/>
                    <a:p>
                      <a:pPr lvl="0" indent="0" marL="0" algn="r">
                        <a:buNone/>
                      </a:pPr>
                      <a:r>
                        <a:rPr/>
                        <a:t>11,734 req/s</a:t>
                      </a:r>
                    </a:p>
                  </a:txBody>
                </a:tc>
              </a:tr>
              <a:tr h="0">
                <a:tc>
                  <a:txBody>
                    <a:bodyPr/>
                    <a:lstStyle/>
                    <a:p>
                      <a:pPr lvl="0" indent="0" marL="0">
                        <a:buNone/>
                      </a:pPr>
                      <a:r>
                        <a:rPr/>
                        <a:t>Overall p95</a:t>
                      </a:r>
                    </a:p>
                  </a:txBody>
                </a:tc>
                <a:tc>
                  <a:txBody>
                    <a:bodyPr/>
                    <a:lstStyle/>
                    <a:p>
                      <a:pPr lvl="0" indent="0" marL="0" algn="r">
                        <a:buNone/>
                      </a:pPr>
                      <a:r>
                        <a:rPr/>
                        <a:t>63.78 ms</a:t>
                      </a:r>
                    </a:p>
                  </a:txBody>
                </a:tc>
                <a:tc>
                  <a:txBody>
                    <a:bodyPr/>
                    <a:lstStyle/>
                    <a:p>
                      <a:pPr lvl="0" indent="0" marL="0" algn="r">
                        <a:buNone/>
                      </a:pPr>
                      <a:r>
                        <a:rPr/>
                        <a:t>42.02 ms</a:t>
                      </a:r>
                    </a:p>
                  </a:txBody>
                </a:tc>
              </a:tr>
              <a:tr h="0">
                <a:tc>
                  <a:txBody>
                    <a:bodyPr/>
                    <a:lstStyle/>
                    <a:p>
                      <a:pPr lvl="0" indent="0" marL="0">
                        <a:buNone/>
                      </a:pPr>
                      <a:r>
                        <a:rPr/>
                        <a:t>Aggregate CPU</a:t>
                      </a:r>
                    </a:p>
                  </a:txBody>
                </a:tc>
                <a:tc>
                  <a:txBody>
                    <a:bodyPr/>
                    <a:lstStyle/>
                    <a:p>
                      <a:pPr lvl="0" indent="0" marL="0" algn="r">
                        <a:buNone/>
                      </a:pPr>
                      <a:r>
                        <a:rPr/>
                        <a:t>97.0%</a:t>
                      </a:r>
                    </a:p>
                  </a:txBody>
                </a:tc>
                <a:tc>
                  <a:txBody>
                    <a:bodyPr/>
                    <a:lstStyle/>
                    <a:p>
                      <a:pPr lvl="0" indent="0" marL="0" algn="r">
                        <a:buNone/>
                      </a:pPr>
                      <a:r>
                        <a:rPr/>
                        <a:t>177.5%</a:t>
                      </a:r>
                    </a:p>
                  </a:txBody>
                </a:tc>
              </a:tr>
              <a:tr h="0">
                <a:tc>
                  <a:txBody>
                    <a:bodyPr/>
                    <a:lstStyle/>
                    <a:p>
                      <a:pPr lvl="0" indent="0" marL="0">
                        <a:buNone/>
                      </a:pPr>
                      <a:r>
                        <a:rPr/>
                        <a:t>Peak RSS</a:t>
                      </a:r>
                    </a:p>
                  </a:txBody>
                </a:tc>
                <a:tc>
                  <a:txBody>
                    <a:bodyPr/>
                    <a:lstStyle/>
                    <a:p>
                      <a:pPr lvl="0" indent="0" marL="0" algn="r">
                        <a:buNone/>
                      </a:pPr>
                      <a:r>
                        <a:rPr/>
                        <a:t>331 MiB</a:t>
                      </a:r>
                    </a:p>
                  </a:txBody>
                </a:tc>
                <a:tc>
                  <a:txBody>
                    <a:bodyPr/>
                    <a:lstStyle/>
                    <a:p>
                      <a:pPr lvl="0" indent="0" marL="0" algn="r">
                        <a:buNone/>
                      </a:pPr>
                      <a:r>
                        <a:rPr/>
                        <a:t>434 MiB</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suggests that using another CPU core is worth testing properly. It does not prove 2.8× scaling.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test says about capacity</a:t>
            </a:r>
          </a:p>
        </p:txBody>
      </p:sp>
      <p:sp>
        <p:nvSpPr>
          <p:cNvPr id="3" name="Content Placeholder 2"/>
          <p:cNvSpPr>
            <a:spLocks noGrp="1"/>
          </p:cNvSpPr>
          <p:nvPr>
            <p:ph idx="1"/>
          </p:nvPr>
        </p:nvSpPr>
        <p:spPr/>
        <p:txBody>
          <a:bodyPr/>
          <a:lstStyle/>
          <a:p>
            <a:pPr lvl="0" indent="0" marL="0">
              <a:buNone/>
            </a:pPr>
            <a:r>
              <a:rPr/>
              <a:t>With one Node process and pool 40:</a:t>
            </a:r>
          </a:p>
          <a:p>
            <a:pPr lvl="0"/>
            <a:r>
              <a:rPr/>
              <a:t>25 VUs at about 10,300 req/s was the highest tested point before degradation;</a:t>
            </a:r>
          </a:p>
          <a:p>
            <a:pPr lvl="0"/>
            <a:r>
              <a:rPr/>
              <a:t>at 50 VUs, throughput was still about 10,200 req/s but GET p95 doubled;</a:t>
            </a:r>
          </a:p>
          <a:p>
            <a:pPr lvl="0"/>
            <a:r>
              <a:rPr/>
              <a:t>unexpected infrastructure failures remained at 0% through 200 VUs.</a:t>
            </a:r>
          </a:p>
          <a:p>
            <a:pPr lvl="0" indent="0" marL="0">
              <a:buNone/>
            </a:pPr>
            <a:r>
              <a:rPr/>
              <a:t>The result applies to this local workload: small payloads, loopback networking, 50 hot notes, and no TLS, authentication, or reverse proxy.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 would do next</a:t>
            </a:r>
          </a:p>
        </p:txBody>
      </p:sp>
      <p:sp>
        <p:nvSpPr>
          <p:cNvPr id="3" name="Content Placeholder 2"/>
          <p:cNvSpPr>
            <a:spLocks noGrp="1"/>
          </p:cNvSpPr>
          <p:nvPr>
            <p:ph idx="1"/>
          </p:nvPr>
        </p:nvSpPr>
        <p:spPr/>
        <p:txBody>
          <a:bodyPr/>
          <a:lstStyle/>
          <a:p>
            <a:pPr lvl="0" indent="-342900" marL="342900">
              <a:buAutoNum type="arabicPeriod"/>
            </a:pPr>
            <a:r>
              <a:rPr/>
              <a:t>Repeat the one-, two-, and four-process tests with a fixed total database connection limit.</a:t>
            </a:r>
          </a:p>
          <a:p>
            <a:pPr lvl="0" indent="-342900" marL="342900">
              <a:buAutoNum type="arabicPeriod"/>
            </a:pPr>
            <a:r>
              <a:rPr/>
              <a:t>Measure pool wait time, event-loop lag, query duration, PostgreSQL waits, and each process separately.</a:t>
            </a:r>
          </a:p>
          <a:p>
            <a:pPr lvl="0" indent="-342900" marL="342900">
              <a:buAutoNum type="arabicPeriod"/>
            </a:pPr>
            <a:r>
              <a:rPr/>
              <a:t>Decide what should happen when two users update the same note; I would not add automatic retries before that is clear.</a:t>
            </a:r>
          </a:p>
          <a:p>
            <a:pPr lvl="0" indent="-342900" marL="342900">
              <a:buAutoNum type="arabicPeriod"/>
            </a:pPr>
            <a:r>
              <a:rPr/>
              <a:t>Add request and query timeouts, bound pool waits, drain connections on shutdown, and test a slow or unavailable database.</a:t>
            </a:r>
          </a:p>
          <a:p>
            <a:pPr lvl="0" indent="-342900" marL="342900">
              <a:buAutoNum type="arabicPeriod"/>
            </a:pPr>
            <a:r>
              <a:rPr/>
              <a:t>Repeat the test with representative note sizes and traffic, separate hosts, and an arrival-rate target based on a real latency objective.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update conflicts</a:t>
            </a:r>
          </a:p>
        </p:txBody>
      </p:sp>
      <p:sp>
        <p:nvSpPr>
          <p:cNvPr id="3" name="Content Placeholder 2"/>
          <p:cNvSpPr>
            <a:spLocks noGrp="1"/>
          </p:cNvSpPr>
          <p:nvPr>
            <p:ph idx="1"/>
          </p:nvPr>
        </p:nvSpPr>
        <p:spPr/>
        <p:txBody>
          <a:bodyPr/>
          <a:lstStyle/>
          <a:p>
            <a:pPr lvl="0"/>
            <a:r>
              <a:rPr/>
              <a:t>10% of requests update one of 50 seeded notes</a:t>
            </a:r>
          </a:p>
          <a:p>
            <a:pPr lvl="0"/>
            <a:r>
              <a:rPr/>
              <a:t>Larger pools allow more updates to race concurrently</a:t>
            </a:r>
          </a:p>
          <a:p>
            <a:pPr lvl="0"/>
            <a:r>
              <a:rPr>
                <a:latin typeface="Courier"/>
              </a:rPr>
              <a:t>409</a:t>
            </a:r>
            <a:r>
              <a:rPr/>
              <a:t> keeps stored versions consistent but is not successful business work</a:t>
            </a:r>
          </a:p>
          <a:p>
            <a:pPr lvl="0"/>
            <a:r>
              <a:rPr/>
              <a:t>In the two-process 200-VU test, roughly 16% of PUT attempts conflicted</a:t>
            </a:r>
          </a:p>
          <a:p>
            <a:pPr lvl="0" indent="0" marL="0">
              <a:buNone/>
            </a:pPr>
            <a:r>
              <a:rPr/>
              <a:t>The product semantics should be clear before adding retries or serialization.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decisions made for this exercise</a:t>
            </a:r>
          </a:p>
        </p:txBody>
      </p:sp>
      <p:sp>
        <p:nvSpPr>
          <p:cNvPr id="3" name="Content Placeholder 2"/>
          <p:cNvSpPr>
            <a:spLocks noGrp="1"/>
          </p:cNvSpPr>
          <p:nvPr>
            <p:ph idx="1"/>
          </p:nvPr>
        </p:nvSpPr>
        <p:spPr/>
        <p:txBody>
          <a:bodyPr/>
          <a:lstStyle/>
          <a:p>
            <a:pPr lvl="0"/>
            <a:r>
              <a:rPr>
                <a:latin typeface="Courier"/>
              </a:rPr>
              <a:t>authorId</a:t>
            </a:r>
            <a:r>
              <a:rPr/>
              <a:t> is client-supplied attribution, not authenticated identity</a:t>
            </a:r>
          </a:p>
          <a:p>
            <a:pPr lvl="0"/>
            <a:r>
              <a:rPr/>
              <a:t>Migrations run during application startup</a:t>
            </a:r>
          </a:p>
          <a:p>
            <a:pPr lvl="0"/>
            <a:r>
              <a:rPr/>
              <a:t>The tests omit TLS, ingress, autoscaling, separate hosts, and a managed database</a:t>
            </a:r>
          </a:p>
          <a:p>
            <a:pPr lvl="0"/>
            <a:r>
              <a:rPr/>
              <a:t>Retention, deletion, and stale-edit reconciliation are not designed</a:t>
            </a:r>
          </a:p>
          <a:p>
            <a:pPr lvl="0" indent="0" marL="0">
              <a:buNone/>
            </a:pPr>
            <a:r>
              <a:rPr/>
              <a:t>These are scope decisions for the take-home, not suggested production defaults.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Notes API</dc:title>
  <dc:creator>Tino Petrenko</dc:creator>
  <cp:keywords/>
  <dcterms:created xsi:type="dcterms:W3CDTF">2026-09-23T07:14:02Z</dcterms:created>
  <dcterms:modified xsi:type="dcterms:W3CDTF">2026-09-23T07:14:02Z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date">
    <vt:lpwstr>September 2026</vt:lpwstr>
  </property>
  <property fmtid="{D5CDD505-2E9C-101B-9397-08002B2CF9AE}" pid="4" name="subtitle">
    <vt:lpwstr>Design, load testing, and one improvement</vt:lpwstr>
  </property>
</Properties>
</file>